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Oval 1"/>
          <p:cNvSpPr/>
          <p:nvPr/>
        </p:nvSpPr>
        <p:spPr>
          <a:xfrm>
            <a:off x="411480" y="502920"/>
            <a:ext cx="1508760" cy="1508760"/>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828800"/>
            <a:ext cx="9966960" cy="1645920"/>
          </a:xfrm>
          <a:prstGeom prst="rect">
            <a:avLst/>
          </a:prstGeom>
          <a:noFill/>
        </p:spPr>
        <p:txBody>
          <a:bodyPr wrap="none">
            <a:spAutoFit/>
          </a:bodyPr>
          <a:lstStyle/>
          <a:p>
            <a:pPr algn="ctr"/>
            <a:r>
              <a:rPr sz="3800" b="1">
                <a:solidFill>
                  <a:srgbClr val="D72B14"/>
                </a:solidFill>
                <a:latin typeface="Georgia"/>
              </a:rPr>
              <a:t>Patent Prior Art and</a:t>
            </a:r>
            <a:br/>
            <a:r>
              <a:t>Litigation Analytics Engine</a:t>
            </a:r>
          </a:p>
          <a:p>
            <a:pPr algn="ctr"/>
            <a:r>
              <a:rPr sz="2200">
                <a:solidFill>
                  <a:srgbClr val="232323"/>
                </a:solidFill>
                <a:latin typeface="Georgia"/>
              </a:rPr>
              <a:t>Data Structures and Algorithms Project</a:t>
            </a:r>
          </a:p>
        </p:txBody>
      </p:sp>
      <p:sp>
        <p:nvSpPr>
          <p:cNvPr id="4" name="TextBox 3"/>
          <p:cNvSpPr txBox="1"/>
          <p:nvPr/>
        </p:nvSpPr>
        <p:spPr>
          <a:xfrm>
            <a:off x="2743200" y="4754880"/>
            <a:ext cx="6675120" cy="731520"/>
          </a:xfrm>
          <a:prstGeom prst="rect">
            <a:avLst/>
          </a:prstGeom>
          <a:noFill/>
        </p:spPr>
        <p:txBody>
          <a:bodyPr wrap="none">
            <a:spAutoFit/>
          </a:bodyPr>
          <a:lstStyle/>
          <a:p>
            <a:pPr algn="ctr"/>
            <a:r>
              <a:rPr sz="1600">
                <a:solidFill>
                  <a:srgbClr val="6E190F"/>
                </a:solidFill>
                <a:latin typeface="Georgia"/>
              </a:rPr>
              <a:t>Patent Search • Claim Similarity • Citation Analysis • Prior-Art Selection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Rounded Rectangle 1"/>
          <p:cNvSpPr/>
          <p:nvPr/>
        </p:nvSpPr>
        <p:spPr>
          <a:xfrm>
            <a:off x="2880360" y="320040"/>
            <a:ext cx="6446520" cy="658368"/>
          </a:xfrm>
          <a:prstGeom prst="roundRect">
            <a:avLst/>
          </a:prstGeom>
          <a:solidFill>
            <a:srgbClr val="D72B14"/>
          </a:solidFill>
          <a:ln>
            <a:solidFill>
              <a:srgbClr val="6E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solidFill>
                  <a:srgbClr val="FFFFFF"/>
                </a:solidFill>
                <a:latin typeface="Georgia"/>
              </a:rPr>
              <a:t>Contents</a:t>
            </a:r>
          </a:p>
        </p:txBody>
      </p:sp>
      <p:sp>
        <p:nvSpPr>
          <p:cNvPr id="3" name="TextBox 2"/>
          <p:cNvSpPr txBox="1"/>
          <p:nvPr/>
        </p:nvSpPr>
        <p:spPr>
          <a:xfrm>
            <a:off x="1920240" y="1325880"/>
            <a:ext cx="8321040" cy="4846320"/>
          </a:xfrm>
          <a:prstGeom prst="rect">
            <a:avLst/>
          </a:prstGeom>
          <a:noFill/>
        </p:spPr>
        <p:txBody>
          <a:bodyPr wrap="square" lIns="73152" rIns="45720">
            <a:spAutoFit/>
          </a:bodyPr>
          <a:lstStyle/>
          <a:p>
            <a:pPr>
              <a:spcAft>
                <a:spcPts val="1000"/>
              </a:spcAft>
              <a:defRPr sz="2300" b="0">
                <a:solidFill>
                  <a:srgbClr val="232323"/>
                </a:solidFill>
                <a:latin typeface="Georgia"/>
              </a:defRPr>
            </a:pPr>
            <a:r>
              <a:t>• Abstract</a:t>
            </a:r>
          </a:p>
          <a:p>
            <a:pPr>
              <a:spcAft>
                <a:spcPts val="1000"/>
              </a:spcAft>
              <a:defRPr sz="2300" b="0">
                <a:solidFill>
                  <a:srgbClr val="232323"/>
                </a:solidFill>
                <a:latin typeface="Georgia"/>
              </a:defRPr>
            </a:pPr>
            <a:r>
              <a:t>• Introduction</a:t>
            </a:r>
          </a:p>
          <a:p>
            <a:pPr>
              <a:spcAft>
                <a:spcPts val="1000"/>
              </a:spcAft>
              <a:defRPr sz="2300" b="0">
                <a:solidFill>
                  <a:srgbClr val="232323"/>
                </a:solidFill>
                <a:latin typeface="Georgia"/>
              </a:defRPr>
            </a:pPr>
            <a:r>
              <a:t>• Literature Survey</a:t>
            </a:r>
          </a:p>
          <a:p>
            <a:pPr>
              <a:spcAft>
                <a:spcPts val="1000"/>
              </a:spcAft>
              <a:defRPr sz="2300" b="0">
                <a:solidFill>
                  <a:srgbClr val="232323"/>
                </a:solidFill>
                <a:latin typeface="Georgia"/>
              </a:defRPr>
            </a:pPr>
            <a:r>
              <a:t>• Problem Statement and Objectives</a:t>
            </a:r>
          </a:p>
          <a:p>
            <a:pPr>
              <a:spcAft>
                <a:spcPts val="1000"/>
              </a:spcAft>
              <a:defRPr sz="2300" b="0">
                <a:solidFill>
                  <a:srgbClr val="232323"/>
                </a:solidFill>
                <a:latin typeface="Georgia"/>
              </a:defRPr>
            </a:pPr>
            <a:r>
              <a:t>• Hardware and Software Requirements</a:t>
            </a:r>
          </a:p>
          <a:p>
            <a:pPr>
              <a:spcAft>
                <a:spcPts val="1000"/>
              </a:spcAft>
              <a:defRPr sz="2300" b="0">
                <a:solidFill>
                  <a:srgbClr val="232323"/>
                </a:solidFill>
                <a:latin typeface="Georgia"/>
              </a:defRPr>
            </a:pPr>
            <a:r>
              <a:t>• Results</a:t>
            </a:r>
          </a:p>
          <a:p>
            <a:pPr>
              <a:spcAft>
                <a:spcPts val="1000"/>
              </a:spcAft>
              <a:defRPr sz="2300" b="0">
                <a:solidFill>
                  <a:srgbClr val="232323"/>
                </a:solidFill>
                <a:latin typeface="Georgia"/>
              </a:defRPr>
            </a:pPr>
            <a:r>
              <a:t>• Conclusion</a:t>
            </a:r>
          </a:p>
          <a:p>
            <a:pPr>
              <a:spcAft>
                <a:spcPts val="1000"/>
              </a:spcAft>
              <a:defRPr sz="2300" b="0">
                <a:solidFill>
                  <a:srgbClr val="232323"/>
                </a:solidFill>
                <a:latin typeface="Georgia"/>
              </a:defRPr>
            </a:pPr>
            <a:r>
              <a:t>• Future Scope</a:t>
            </a:r>
          </a:p>
        </p:txBody>
      </p:sp>
      <p:sp>
        <p:nvSpPr>
          <p:cNvPr id="4" name="TextBox 3"/>
          <p:cNvSpPr txBox="1"/>
          <p:nvPr/>
        </p:nvSpPr>
        <p:spPr>
          <a:xfrm>
            <a:off x="10881360" y="6446520"/>
            <a:ext cx="731520" cy="228600"/>
          </a:xfrm>
          <a:prstGeom prst="rect">
            <a:avLst/>
          </a:prstGeom>
          <a:noFill/>
        </p:spPr>
        <p:txBody>
          <a:bodyPr wrap="none">
            <a:spAutoFit/>
          </a:bodyPr>
          <a:lstStyle/>
          <a:p>
            <a:pPr algn="r"/>
            <a:r>
              <a:rPr sz="1000">
                <a:solidFill>
                  <a:srgbClr val="6E190F"/>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Rounded Rectangle 1"/>
          <p:cNvSpPr/>
          <p:nvPr/>
        </p:nvSpPr>
        <p:spPr>
          <a:xfrm>
            <a:off x="2880360" y="320040"/>
            <a:ext cx="6446520" cy="658368"/>
          </a:xfrm>
          <a:prstGeom prst="roundRect">
            <a:avLst/>
          </a:prstGeom>
          <a:solidFill>
            <a:srgbClr val="D72B14"/>
          </a:solidFill>
          <a:ln>
            <a:solidFill>
              <a:srgbClr val="6E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solidFill>
                  <a:srgbClr val="FFFFFF"/>
                </a:solidFill>
                <a:latin typeface="Georgia"/>
              </a:rPr>
              <a:t>Abstract</a:t>
            </a:r>
          </a:p>
        </p:txBody>
      </p:sp>
      <p:sp>
        <p:nvSpPr>
          <p:cNvPr id="3" name="TextBox 2"/>
          <p:cNvSpPr txBox="1"/>
          <p:nvPr/>
        </p:nvSpPr>
        <p:spPr>
          <a:xfrm>
            <a:off x="914400" y="1325880"/>
            <a:ext cx="10332720" cy="4480560"/>
          </a:xfrm>
          <a:prstGeom prst="rect">
            <a:avLst/>
          </a:prstGeom>
          <a:noFill/>
        </p:spPr>
        <p:txBody>
          <a:bodyPr wrap="square">
            <a:spAutoFit/>
          </a:bodyPr>
          <a:lstStyle/>
          <a:p>
            <a:pPr>
              <a:spcAft>
                <a:spcPts val="1200"/>
              </a:spcAft>
              <a:defRPr sz="2100">
                <a:solidFill>
                  <a:srgbClr val="232323"/>
                </a:solidFill>
                <a:latin typeface="Georgia"/>
              </a:defRPr>
            </a:pPr>
            <a:r>
              <a:t>The Patent Prior Art and Litigation Analytics Engine is a DSA-based system designed to assist patent examiners and litigators in analyzing large collections of patent documents. It searches patent claims for relevant prior art, measures claim similarity, analyzes citation relationships, ranks references, and computes a minimum set of prior-art references covering the required claim elements. HashMaps, Tries, Graphs, Priority Queues, Sets, BFS, DFS, Set Cover and Backtracking are used to improve search and analysis efficiency. The system also supports examiner assignment based on expertise and workload.</a:t>
            </a:r>
          </a:p>
        </p:txBody>
      </p:sp>
      <p:sp>
        <p:nvSpPr>
          <p:cNvPr id="4" name="TextBox 3"/>
          <p:cNvSpPr txBox="1"/>
          <p:nvPr/>
        </p:nvSpPr>
        <p:spPr>
          <a:xfrm>
            <a:off x="10881360" y="6446520"/>
            <a:ext cx="731520" cy="228600"/>
          </a:xfrm>
          <a:prstGeom prst="rect">
            <a:avLst/>
          </a:prstGeom>
          <a:noFill/>
        </p:spPr>
        <p:txBody>
          <a:bodyPr wrap="none">
            <a:spAutoFit/>
          </a:bodyPr>
          <a:lstStyle/>
          <a:p>
            <a:pPr algn="r"/>
            <a:r>
              <a:rPr sz="1000">
                <a:solidFill>
                  <a:srgbClr val="6E190F"/>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Rounded Rectangle 1"/>
          <p:cNvSpPr/>
          <p:nvPr/>
        </p:nvSpPr>
        <p:spPr>
          <a:xfrm>
            <a:off x="2880360" y="320040"/>
            <a:ext cx="6446520" cy="658368"/>
          </a:xfrm>
          <a:prstGeom prst="roundRect">
            <a:avLst/>
          </a:prstGeom>
          <a:solidFill>
            <a:srgbClr val="D72B14"/>
          </a:solidFill>
          <a:ln>
            <a:solidFill>
              <a:srgbClr val="6E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solidFill>
                  <a:srgbClr val="FFFFFF"/>
                </a:solidFill>
                <a:latin typeface="Georgia"/>
              </a:rPr>
              <a:t>Introduction</a:t>
            </a:r>
          </a:p>
        </p:txBody>
      </p:sp>
      <p:sp>
        <p:nvSpPr>
          <p:cNvPr id="3" name="TextBox 2"/>
          <p:cNvSpPr txBox="1"/>
          <p:nvPr/>
        </p:nvSpPr>
        <p:spPr>
          <a:xfrm>
            <a:off x="822960" y="1234440"/>
            <a:ext cx="10607040" cy="5029200"/>
          </a:xfrm>
          <a:prstGeom prst="rect">
            <a:avLst/>
          </a:prstGeom>
          <a:noFill/>
        </p:spPr>
        <p:txBody>
          <a:bodyPr wrap="square" lIns="73152" rIns="45720">
            <a:spAutoFit/>
          </a:bodyPr>
          <a:lstStyle/>
          <a:p>
            <a:pPr>
              <a:spcAft>
                <a:spcPts val="1000"/>
              </a:spcAft>
              <a:defRPr sz="2000" b="0">
                <a:solidFill>
                  <a:srgbClr val="232323"/>
                </a:solidFill>
                <a:latin typeface="Georgia"/>
              </a:defRPr>
            </a:pPr>
            <a:r>
              <a:t>• Patent examination and litigation require searching large and complex patent collections.</a:t>
            </a:r>
          </a:p>
          <a:p>
            <a:pPr>
              <a:spcAft>
                <a:spcPts val="1000"/>
              </a:spcAft>
              <a:defRPr sz="2000" b="0">
                <a:solidFill>
                  <a:srgbClr val="232323"/>
                </a:solidFill>
                <a:latin typeface="Georgia"/>
              </a:defRPr>
            </a:pPr>
            <a:r>
              <a:t>• Manual prior-art discovery can be time-consuming because patents contain overlapping claims and extensive citation networks.</a:t>
            </a:r>
          </a:p>
          <a:p>
            <a:pPr>
              <a:spcAft>
                <a:spcPts val="1000"/>
              </a:spcAft>
              <a:defRPr sz="2000" b="0">
                <a:solidFill>
                  <a:srgbClr val="232323"/>
                </a:solidFill>
                <a:latin typeface="Georgia"/>
              </a:defRPr>
            </a:pPr>
            <a:r>
              <a:t>• The proposed engine organizes patent information using efficient data structures and algorithms.</a:t>
            </a:r>
          </a:p>
          <a:p>
            <a:pPr>
              <a:spcAft>
                <a:spcPts val="1000"/>
              </a:spcAft>
              <a:defRPr sz="2000" b="0">
                <a:solidFill>
                  <a:srgbClr val="232323"/>
                </a:solidFill>
                <a:latin typeface="Georgia"/>
              </a:defRPr>
            </a:pPr>
            <a:r>
              <a:t>• It identifies relevant prior art, compares claim elements, analyzes citation influence, and ranks results.</a:t>
            </a:r>
          </a:p>
          <a:p>
            <a:pPr>
              <a:spcAft>
                <a:spcPts val="1000"/>
              </a:spcAft>
              <a:defRPr sz="2000" b="0">
                <a:solidFill>
                  <a:srgbClr val="232323"/>
                </a:solidFill>
                <a:latin typeface="Georgia"/>
              </a:defRPr>
            </a:pPr>
            <a:r>
              <a:t>• The system provides structured decision support while leaving final legal judgments to qualified professionals.</a:t>
            </a:r>
          </a:p>
        </p:txBody>
      </p:sp>
      <p:sp>
        <p:nvSpPr>
          <p:cNvPr id="4" name="TextBox 3"/>
          <p:cNvSpPr txBox="1"/>
          <p:nvPr/>
        </p:nvSpPr>
        <p:spPr>
          <a:xfrm>
            <a:off x="10881360" y="6446520"/>
            <a:ext cx="731520" cy="228600"/>
          </a:xfrm>
          <a:prstGeom prst="rect">
            <a:avLst/>
          </a:prstGeom>
          <a:noFill/>
        </p:spPr>
        <p:txBody>
          <a:bodyPr wrap="none">
            <a:spAutoFit/>
          </a:bodyPr>
          <a:lstStyle/>
          <a:p>
            <a:pPr algn="r"/>
            <a:r>
              <a:rPr sz="1000">
                <a:solidFill>
                  <a:srgbClr val="6E190F"/>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Rounded Rectangle 1"/>
          <p:cNvSpPr/>
          <p:nvPr/>
        </p:nvSpPr>
        <p:spPr>
          <a:xfrm>
            <a:off x="2880360" y="320040"/>
            <a:ext cx="6446520" cy="658368"/>
          </a:xfrm>
          <a:prstGeom prst="roundRect">
            <a:avLst/>
          </a:prstGeom>
          <a:solidFill>
            <a:srgbClr val="D72B14"/>
          </a:solidFill>
          <a:ln>
            <a:solidFill>
              <a:srgbClr val="6E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solidFill>
                  <a:srgbClr val="FFFFFF"/>
                </a:solidFill>
                <a:latin typeface="Georgia"/>
              </a:rPr>
              <a:t>Literature Survey</a:t>
            </a:r>
          </a:p>
        </p:txBody>
      </p:sp>
      <p:sp>
        <p:nvSpPr>
          <p:cNvPr id="3" name="TextBox 2"/>
          <p:cNvSpPr txBox="1"/>
          <p:nvPr/>
        </p:nvSpPr>
        <p:spPr>
          <a:xfrm>
            <a:off x="822960" y="1234440"/>
            <a:ext cx="10607040" cy="5029200"/>
          </a:xfrm>
          <a:prstGeom prst="rect">
            <a:avLst/>
          </a:prstGeom>
          <a:noFill/>
        </p:spPr>
        <p:txBody>
          <a:bodyPr wrap="square" lIns="73152" rIns="45720">
            <a:spAutoFit/>
          </a:bodyPr>
          <a:lstStyle/>
          <a:p>
            <a:pPr>
              <a:spcAft>
                <a:spcPts val="1000"/>
              </a:spcAft>
              <a:defRPr sz="1900" b="0">
                <a:solidFill>
                  <a:srgbClr val="232323"/>
                </a:solidFill>
                <a:latin typeface="Georgia"/>
              </a:defRPr>
            </a:pPr>
            <a:r>
              <a:t>• Existing patent search platforms provide keyword, classification, citation, and document-based search.</a:t>
            </a:r>
          </a:p>
          <a:p>
            <a:pPr>
              <a:spcAft>
                <a:spcPts val="1000"/>
              </a:spcAft>
              <a:defRPr sz="1900" b="0">
                <a:solidFill>
                  <a:srgbClr val="232323"/>
                </a:solidFill>
                <a:latin typeface="Georgia"/>
              </a:defRPr>
            </a:pPr>
            <a:r>
              <a:t>• Patent similarity research commonly uses text comparison and information-retrieval techniques to identify related documents.</a:t>
            </a:r>
          </a:p>
          <a:p>
            <a:pPr>
              <a:spcAft>
                <a:spcPts val="1000"/>
              </a:spcAft>
              <a:defRPr sz="1900" b="0">
                <a:solidFill>
                  <a:srgbClr val="232323"/>
                </a:solidFill>
                <a:latin typeface="Georgia"/>
              </a:defRPr>
            </a:pPr>
            <a:r>
              <a:t>• Citation-network studies model patents as graphs to analyze relationships, influence, and technological evolution.</a:t>
            </a:r>
          </a:p>
          <a:p>
            <a:pPr>
              <a:spcAft>
                <a:spcPts val="1000"/>
              </a:spcAft>
              <a:defRPr sz="1900" b="0">
                <a:solidFill>
                  <a:srgbClr val="232323"/>
                </a:solidFill>
                <a:latin typeface="Georgia"/>
              </a:defRPr>
            </a:pPr>
            <a:r>
              <a:t>• Set Cover and related optimization methods can identify a small collection of references that covers required features.</a:t>
            </a:r>
          </a:p>
          <a:p>
            <a:pPr>
              <a:spcAft>
                <a:spcPts val="1000"/>
              </a:spcAft>
              <a:defRPr sz="1900" b="0">
                <a:solidFill>
                  <a:srgbClr val="232323"/>
                </a:solidFill>
                <a:latin typeface="Georgia"/>
              </a:defRPr>
            </a:pPr>
            <a:r>
              <a:t>• Our project combines these ideas into one DSA-focused analytics engine with integrated search, ranking, graph analysis, prior-art selection, and examiner assignment.</a:t>
            </a:r>
          </a:p>
        </p:txBody>
      </p:sp>
      <p:sp>
        <p:nvSpPr>
          <p:cNvPr id="4" name="TextBox 3"/>
          <p:cNvSpPr txBox="1"/>
          <p:nvPr/>
        </p:nvSpPr>
        <p:spPr>
          <a:xfrm>
            <a:off x="10881360" y="6446520"/>
            <a:ext cx="731520" cy="228600"/>
          </a:xfrm>
          <a:prstGeom prst="rect">
            <a:avLst/>
          </a:prstGeom>
          <a:noFill/>
        </p:spPr>
        <p:txBody>
          <a:bodyPr wrap="none">
            <a:spAutoFit/>
          </a:bodyPr>
          <a:lstStyle/>
          <a:p>
            <a:pPr algn="r"/>
            <a:r>
              <a:rPr sz="1000">
                <a:solidFill>
                  <a:srgbClr val="6E190F"/>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Rounded Rectangle 1"/>
          <p:cNvSpPr/>
          <p:nvPr/>
        </p:nvSpPr>
        <p:spPr>
          <a:xfrm>
            <a:off x="2880360" y="320040"/>
            <a:ext cx="6446520" cy="658368"/>
          </a:xfrm>
          <a:prstGeom prst="roundRect">
            <a:avLst/>
          </a:prstGeom>
          <a:solidFill>
            <a:srgbClr val="D72B14"/>
          </a:solidFill>
          <a:ln>
            <a:solidFill>
              <a:srgbClr val="6E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solidFill>
                  <a:srgbClr val="FFFFFF"/>
                </a:solidFill>
                <a:latin typeface="Georgia"/>
              </a:rPr>
              <a:t>Problem Statement and Objectives</a:t>
            </a:r>
          </a:p>
        </p:txBody>
      </p:sp>
      <p:sp>
        <p:nvSpPr>
          <p:cNvPr id="3" name="TextBox 2"/>
          <p:cNvSpPr txBox="1"/>
          <p:nvPr/>
        </p:nvSpPr>
        <p:spPr>
          <a:xfrm>
            <a:off x="731520" y="1234440"/>
            <a:ext cx="10789920" cy="5029200"/>
          </a:xfrm>
          <a:prstGeom prst="rect">
            <a:avLst/>
          </a:prstGeom>
          <a:noFill/>
        </p:spPr>
        <p:txBody>
          <a:bodyPr wrap="square" lIns="73152" rIns="45720">
            <a:spAutoFit/>
          </a:bodyPr>
          <a:lstStyle/>
          <a:p>
            <a:pPr>
              <a:spcAft>
                <a:spcPts val="1000"/>
              </a:spcAft>
              <a:defRPr sz="1800" b="0">
                <a:solidFill>
                  <a:srgbClr val="232323"/>
                </a:solidFill>
                <a:latin typeface="Georgia"/>
              </a:defRPr>
            </a:pPr>
            <a:r>
              <a:t>• Problem: Patent examiners and litigators need to search a large corpus, compare claims, trace citation influence, and identify a compact set of relevant prior-art references.</a:t>
            </a:r>
          </a:p>
          <a:p>
            <a:pPr>
              <a:spcAft>
                <a:spcPts val="1000"/>
              </a:spcAft>
              <a:defRPr sz="1800" b="0">
                <a:solidFill>
                  <a:srgbClr val="232323"/>
                </a:solidFill>
                <a:latin typeface="Georgia"/>
              </a:defRPr>
            </a:pPr>
            <a:r>
              <a:t>• Develop an efficient patent search mechanism using HashMaps and Tries.</a:t>
            </a:r>
          </a:p>
          <a:p>
            <a:pPr>
              <a:spcAft>
                <a:spcPts val="1000"/>
              </a:spcAft>
              <a:defRPr sz="1800" b="0">
                <a:solidFill>
                  <a:srgbClr val="232323"/>
                </a:solidFill>
                <a:latin typeface="Georgia"/>
              </a:defRPr>
            </a:pPr>
            <a:r>
              <a:t>• Calculate and rank claim similarity to identify strong candidate references.</a:t>
            </a:r>
          </a:p>
          <a:p>
            <a:pPr>
              <a:spcAft>
                <a:spcPts val="1000"/>
              </a:spcAft>
              <a:defRPr sz="1800" b="0">
                <a:solidFill>
                  <a:srgbClr val="232323"/>
                </a:solidFill>
                <a:latin typeface="Georgia"/>
              </a:defRPr>
            </a:pPr>
            <a:r>
              <a:t>• Represent citation relationships as a graph and analyze them using BFS and DFS.</a:t>
            </a:r>
          </a:p>
          <a:p>
            <a:pPr>
              <a:spcAft>
                <a:spcPts val="1000"/>
              </a:spcAft>
              <a:defRPr sz="1800" b="0">
                <a:solidFill>
                  <a:srgbClr val="232323"/>
                </a:solidFill>
                <a:latin typeface="Georgia"/>
              </a:defRPr>
            </a:pPr>
            <a:r>
              <a:t>• Compute a minimum or near-minimum invalidating reference set using Set Cover and Backtracking.</a:t>
            </a:r>
          </a:p>
          <a:p>
            <a:pPr>
              <a:spcAft>
                <a:spcPts val="1000"/>
              </a:spcAft>
              <a:defRPr sz="1800" b="0">
                <a:solidFill>
                  <a:srgbClr val="232323"/>
                </a:solidFill>
                <a:latin typeface="Georgia"/>
              </a:defRPr>
            </a:pPr>
            <a:r>
              <a:t>• Assign patent applications to suitable examiners based on expertise and workload.</a:t>
            </a:r>
          </a:p>
        </p:txBody>
      </p:sp>
      <p:sp>
        <p:nvSpPr>
          <p:cNvPr id="4" name="TextBox 3"/>
          <p:cNvSpPr txBox="1"/>
          <p:nvPr/>
        </p:nvSpPr>
        <p:spPr>
          <a:xfrm>
            <a:off x="10881360" y="6446520"/>
            <a:ext cx="731520" cy="228600"/>
          </a:xfrm>
          <a:prstGeom prst="rect">
            <a:avLst/>
          </a:prstGeom>
          <a:noFill/>
        </p:spPr>
        <p:txBody>
          <a:bodyPr wrap="none">
            <a:spAutoFit/>
          </a:bodyPr>
          <a:lstStyle/>
          <a:p>
            <a:pPr algn="r"/>
            <a:r>
              <a:rPr sz="1000">
                <a:solidFill>
                  <a:srgbClr val="6E190F"/>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Rounded Rectangle 1"/>
          <p:cNvSpPr/>
          <p:nvPr/>
        </p:nvSpPr>
        <p:spPr>
          <a:xfrm>
            <a:off x="2880360" y="320040"/>
            <a:ext cx="6446520" cy="658368"/>
          </a:xfrm>
          <a:prstGeom prst="roundRect">
            <a:avLst/>
          </a:prstGeom>
          <a:solidFill>
            <a:srgbClr val="D72B14"/>
          </a:solidFill>
          <a:ln>
            <a:solidFill>
              <a:srgbClr val="6E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solidFill>
                  <a:srgbClr val="FFFFFF"/>
                </a:solidFill>
                <a:latin typeface="Georgia"/>
              </a:rPr>
              <a:t>Hardware and Software Requirements</a:t>
            </a:r>
          </a:p>
        </p:txBody>
      </p:sp>
      <p:sp>
        <p:nvSpPr>
          <p:cNvPr id="3" name="TextBox 2"/>
          <p:cNvSpPr txBox="1"/>
          <p:nvPr/>
        </p:nvSpPr>
        <p:spPr>
          <a:xfrm>
            <a:off x="822960" y="1143000"/>
            <a:ext cx="10515600" cy="5212080"/>
          </a:xfrm>
          <a:prstGeom prst="rect">
            <a:avLst/>
          </a:prstGeom>
          <a:noFill/>
        </p:spPr>
        <p:txBody>
          <a:bodyPr wrap="square" lIns="73152" rIns="45720">
            <a:spAutoFit/>
          </a:bodyPr>
          <a:lstStyle/>
          <a:p>
            <a:pPr>
              <a:spcAft>
                <a:spcPts val="1000"/>
              </a:spcAft>
              <a:defRPr sz="1800" b="0">
                <a:solidFill>
                  <a:srgbClr val="232323"/>
                </a:solidFill>
                <a:latin typeface="Georgia"/>
              </a:defRPr>
            </a:pPr>
            <a:r>
              <a:t>• Hardware Requirements</a:t>
            </a:r>
          </a:p>
          <a:p>
            <a:pPr lvl="1">
              <a:spcAft>
                <a:spcPts val="1000"/>
              </a:spcAft>
              <a:defRPr sz="1600" b="0">
                <a:solidFill>
                  <a:srgbClr val="232323"/>
                </a:solidFill>
                <a:latin typeface="Georgia"/>
              </a:defRPr>
            </a:pPr>
            <a:r>
              <a:t>   – Processor: Intel Core i5 / AMD Ryzen 5 or equivalent</a:t>
            </a:r>
          </a:p>
          <a:p>
            <a:pPr lvl="1">
              <a:spcAft>
                <a:spcPts val="1000"/>
              </a:spcAft>
              <a:defRPr sz="1600" b="0">
                <a:solidFill>
                  <a:srgbClr val="232323"/>
                </a:solidFill>
                <a:latin typeface="Georgia"/>
              </a:defRPr>
            </a:pPr>
            <a:r>
              <a:t>   – RAM: 8 GB or higher</a:t>
            </a:r>
          </a:p>
          <a:p>
            <a:pPr lvl="1">
              <a:spcAft>
                <a:spcPts val="1000"/>
              </a:spcAft>
              <a:defRPr sz="1600" b="0">
                <a:solidFill>
                  <a:srgbClr val="232323"/>
                </a:solidFill>
                <a:latin typeface="Georgia"/>
              </a:defRPr>
            </a:pPr>
            <a:r>
              <a:t>   – Storage: 10 GB or more available space</a:t>
            </a:r>
          </a:p>
          <a:p>
            <a:pPr>
              <a:spcAft>
                <a:spcPts val="1000"/>
              </a:spcAft>
              <a:defRPr sz="1800" b="0">
                <a:solidFill>
                  <a:srgbClr val="232323"/>
                </a:solidFill>
                <a:latin typeface="Georgia"/>
              </a:defRPr>
            </a:pPr>
            <a:r>
              <a:t>• Software Requirements</a:t>
            </a:r>
          </a:p>
          <a:p>
            <a:pPr lvl="1">
              <a:spcAft>
                <a:spcPts val="1000"/>
              </a:spcAft>
              <a:defRPr sz="1600" b="0">
                <a:solidFill>
                  <a:srgbClr val="232323"/>
                </a:solidFill>
                <a:latin typeface="Georgia"/>
              </a:defRPr>
            </a:pPr>
            <a:r>
              <a:t>   – Java / JDK 21 – core implementation and DSA algorithms</a:t>
            </a:r>
          </a:p>
          <a:p>
            <a:pPr lvl="1">
              <a:spcAft>
                <a:spcPts val="1000"/>
              </a:spcAft>
              <a:defRPr sz="1600" b="0">
                <a:solidFill>
                  <a:srgbClr val="232323"/>
                </a:solidFill>
                <a:latin typeface="Georgia"/>
              </a:defRPr>
            </a:pPr>
            <a:r>
              <a:t>   – IntelliJ IDEA or Eclipse – development and debugging</a:t>
            </a:r>
          </a:p>
          <a:p>
            <a:pPr lvl="1">
              <a:spcAft>
                <a:spcPts val="1000"/>
              </a:spcAft>
              <a:defRPr sz="1600" b="0">
                <a:solidFill>
                  <a:srgbClr val="232323"/>
                </a:solidFill>
                <a:latin typeface="Georgia"/>
              </a:defRPr>
            </a:pPr>
            <a:r>
              <a:t>   – MySQL – patent, citation, litigation and examiner data</a:t>
            </a:r>
          </a:p>
          <a:p>
            <a:pPr lvl="1">
              <a:spcAft>
                <a:spcPts val="1000"/>
              </a:spcAft>
              <a:defRPr sz="1600" b="0">
                <a:solidFill>
                  <a:srgbClr val="232323"/>
                </a:solidFill>
                <a:latin typeface="Georgia"/>
              </a:defRPr>
            </a:pPr>
            <a:r>
              <a:t>   – HTML, CSS and JavaScript – user interface</a:t>
            </a:r>
          </a:p>
          <a:p>
            <a:pPr lvl="1">
              <a:spcAft>
                <a:spcPts val="1000"/>
              </a:spcAft>
              <a:defRPr sz="1600" b="0">
                <a:solidFill>
                  <a:srgbClr val="232323"/>
                </a:solidFill>
                <a:latin typeface="Georgia"/>
              </a:defRPr>
            </a:pPr>
            <a:r>
              <a:t>   – Git and GitHub – version control and collaboration</a:t>
            </a:r>
          </a:p>
        </p:txBody>
      </p:sp>
      <p:sp>
        <p:nvSpPr>
          <p:cNvPr id="4" name="TextBox 3"/>
          <p:cNvSpPr txBox="1"/>
          <p:nvPr/>
        </p:nvSpPr>
        <p:spPr>
          <a:xfrm>
            <a:off x="10881360" y="6446520"/>
            <a:ext cx="731520" cy="228600"/>
          </a:xfrm>
          <a:prstGeom prst="rect">
            <a:avLst/>
          </a:prstGeom>
          <a:noFill/>
        </p:spPr>
        <p:txBody>
          <a:bodyPr wrap="none">
            <a:spAutoFit/>
          </a:bodyPr>
          <a:lstStyle/>
          <a:p>
            <a:pPr algn="r"/>
            <a:r>
              <a:rPr sz="1000">
                <a:solidFill>
                  <a:srgbClr val="6E190F"/>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Rounded Rectangle 1"/>
          <p:cNvSpPr/>
          <p:nvPr/>
        </p:nvSpPr>
        <p:spPr>
          <a:xfrm>
            <a:off x="2880360" y="320040"/>
            <a:ext cx="6446520" cy="658368"/>
          </a:xfrm>
          <a:prstGeom prst="roundRect">
            <a:avLst/>
          </a:prstGeom>
          <a:solidFill>
            <a:srgbClr val="D72B14"/>
          </a:solidFill>
          <a:ln>
            <a:solidFill>
              <a:srgbClr val="6E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solidFill>
                  <a:srgbClr val="FFFFFF"/>
                </a:solidFill>
                <a:latin typeface="Georgia"/>
              </a:rPr>
              <a:t>Results</a:t>
            </a:r>
          </a:p>
        </p:txBody>
      </p:sp>
      <p:sp>
        <p:nvSpPr>
          <p:cNvPr id="3" name="TextBox 2"/>
          <p:cNvSpPr txBox="1"/>
          <p:nvPr/>
        </p:nvSpPr>
        <p:spPr>
          <a:xfrm>
            <a:off x="822960" y="1234440"/>
            <a:ext cx="10607040" cy="5029200"/>
          </a:xfrm>
          <a:prstGeom prst="rect">
            <a:avLst/>
          </a:prstGeom>
          <a:noFill/>
        </p:spPr>
        <p:txBody>
          <a:bodyPr wrap="square" lIns="73152" rIns="45720">
            <a:spAutoFit/>
          </a:bodyPr>
          <a:lstStyle/>
          <a:p>
            <a:pPr>
              <a:spcAft>
                <a:spcPts val="1000"/>
              </a:spcAft>
              <a:defRPr sz="1900" b="0">
                <a:solidFill>
                  <a:srgbClr val="232323"/>
                </a:solidFill>
                <a:latin typeface="Georgia"/>
              </a:defRPr>
            </a:pPr>
            <a:r>
              <a:t>• Efficient retrieval of patents and claims using indexed data structures.</a:t>
            </a:r>
          </a:p>
          <a:p>
            <a:pPr>
              <a:spcAft>
                <a:spcPts val="1000"/>
              </a:spcAft>
              <a:defRPr sz="1900" b="0">
                <a:solidFill>
                  <a:srgbClr val="232323"/>
                </a:solidFill>
                <a:latin typeface="Georgia"/>
              </a:defRPr>
            </a:pPr>
            <a:r>
              <a:t>• Relevant prior-art references are ranked using claim similarity scores and a priority queue.</a:t>
            </a:r>
          </a:p>
          <a:p>
            <a:pPr>
              <a:spcAft>
                <a:spcPts val="1000"/>
              </a:spcAft>
              <a:defRPr sz="1900" b="0">
                <a:solidFill>
                  <a:srgbClr val="232323"/>
                </a:solidFill>
                <a:latin typeface="Georgia"/>
              </a:defRPr>
            </a:pPr>
            <a:r>
              <a:t>• Citation relationships can be traversed to identify connected and influential patents.</a:t>
            </a:r>
          </a:p>
          <a:p>
            <a:pPr>
              <a:spcAft>
                <a:spcPts val="1000"/>
              </a:spcAft>
              <a:defRPr sz="1900" b="0">
                <a:solidFill>
                  <a:srgbClr val="232323"/>
                </a:solidFill>
                <a:latin typeface="Georgia"/>
              </a:defRPr>
            </a:pPr>
            <a:r>
              <a:t>• The prior-art selection module identifies a compact set of references covering target claim elements.</a:t>
            </a:r>
          </a:p>
          <a:p>
            <a:pPr>
              <a:spcAft>
                <a:spcPts val="1000"/>
              </a:spcAft>
              <a:defRPr sz="1900" b="0">
                <a:solidFill>
                  <a:srgbClr val="232323"/>
                </a:solidFill>
                <a:latin typeface="Georgia"/>
              </a:defRPr>
            </a:pPr>
            <a:r>
              <a:t>• Examiner assignment produces a suitable examiner based on expertise and current workload.</a:t>
            </a:r>
          </a:p>
          <a:p>
            <a:pPr>
              <a:spcAft>
                <a:spcPts val="1000"/>
              </a:spcAft>
              <a:defRPr sz="1900" b="0">
                <a:solidFill>
                  <a:srgbClr val="232323"/>
                </a:solidFill>
                <a:latin typeface="Georgia"/>
              </a:defRPr>
            </a:pPr>
            <a:r>
              <a:t>• The integrated approach reduces repetitive manual searching and organizes results in a structured form.</a:t>
            </a:r>
          </a:p>
        </p:txBody>
      </p:sp>
      <p:sp>
        <p:nvSpPr>
          <p:cNvPr id="4" name="TextBox 3"/>
          <p:cNvSpPr txBox="1"/>
          <p:nvPr/>
        </p:nvSpPr>
        <p:spPr>
          <a:xfrm>
            <a:off x="10881360" y="6446520"/>
            <a:ext cx="731520" cy="228600"/>
          </a:xfrm>
          <a:prstGeom prst="rect">
            <a:avLst/>
          </a:prstGeom>
          <a:noFill/>
        </p:spPr>
        <p:txBody>
          <a:bodyPr wrap="none">
            <a:spAutoFit/>
          </a:bodyPr>
          <a:lstStyle/>
          <a:p>
            <a:pPr algn="r"/>
            <a:r>
              <a:rPr sz="1000">
                <a:solidFill>
                  <a:srgbClr val="6E190F"/>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Rounded Rectangle 1"/>
          <p:cNvSpPr/>
          <p:nvPr/>
        </p:nvSpPr>
        <p:spPr>
          <a:xfrm>
            <a:off x="2880360" y="320040"/>
            <a:ext cx="6446520" cy="658368"/>
          </a:xfrm>
          <a:prstGeom prst="roundRect">
            <a:avLst/>
          </a:prstGeom>
          <a:solidFill>
            <a:srgbClr val="D72B14"/>
          </a:solidFill>
          <a:ln>
            <a:solidFill>
              <a:srgbClr val="6E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solidFill>
                  <a:srgbClr val="FFFFFF"/>
                </a:solidFill>
                <a:latin typeface="Georgia"/>
              </a:rPr>
              <a:t>Conclusion</a:t>
            </a:r>
          </a:p>
        </p:txBody>
      </p:sp>
      <p:sp>
        <p:nvSpPr>
          <p:cNvPr id="3" name="TextBox 2"/>
          <p:cNvSpPr txBox="1"/>
          <p:nvPr/>
        </p:nvSpPr>
        <p:spPr>
          <a:xfrm>
            <a:off x="822960" y="1280160"/>
            <a:ext cx="10607040" cy="4754880"/>
          </a:xfrm>
          <a:prstGeom prst="rect">
            <a:avLst/>
          </a:prstGeom>
          <a:noFill/>
        </p:spPr>
        <p:txBody>
          <a:bodyPr wrap="square" lIns="73152" rIns="45720">
            <a:spAutoFit/>
          </a:bodyPr>
          <a:lstStyle/>
          <a:p>
            <a:pPr>
              <a:spcAft>
                <a:spcPts val="1000"/>
              </a:spcAft>
              <a:defRPr sz="2000" b="0">
                <a:solidFill>
                  <a:srgbClr val="232323"/>
                </a:solidFill>
                <a:latin typeface="Georgia"/>
              </a:defRPr>
            </a:pPr>
            <a:r>
              <a:t>• The project demonstrates how DSA concepts can solve a practical problem in patent analytics.</a:t>
            </a:r>
          </a:p>
          <a:p>
            <a:pPr>
              <a:spcAft>
                <a:spcPts val="1000"/>
              </a:spcAft>
              <a:defRPr sz="2000" b="0">
                <a:solidFill>
                  <a:srgbClr val="232323"/>
                </a:solidFill>
                <a:latin typeface="Georgia"/>
              </a:defRPr>
            </a:pPr>
            <a:r>
              <a:t>• Hashing and Tries improve search, Graph algorithms analyze citation networks, and Priority Queues support relevance ranking.</a:t>
            </a:r>
          </a:p>
          <a:p>
            <a:pPr>
              <a:spcAft>
                <a:spcPts val="1000"/>
              </a:spcAft>
              <a:defRPr sz="2000" b="0">
                <a:solidFill>
                  <a:srgbClr val="232323"/>
                </a:solidFill>
                <a:latin typeface="Georgia"/>
              </a:defRPr>
            </a:pPr>
            <a:r>
              <a:t>• Set Cover and Backtracking provide an algorithmic approach to selecting a compact collection of prior-art references.</a:t>
            </a:r>
          </a:p>
          <a:p>
            <a:pPr>
              <a:spcAft>
                <a:spcPts val="1000"/>
              </a:spcAft>
              <a:defRPr sz="2000" b="0">
                <a:solidFill>
                  <a:srgbClr val="232323"/>
                </a:solidFill>
                <a:latin typeface="Georgia"/>
              </a:defRPr>
            </a:pPr>
            <a:r>
              <a:t>• The system brings multiple analytical tasks into a single structured workflow.</a:t>
            </a:r>
          </a:p>
          <a:p>
            <a:pPr>
              <a:spcAft>
                <a:spcPts val="1000"/>
              </a:spcAft>
              <a:defRPr sz="2000" b="0">
                <a:solidFill>
                  <a:srgbClr val="232323"/>
                </a:solidFill>
                <a:latin typeface="Georgia"/>
              </a:defRPr>
            </a:pPr>
            <a:r>
              <a:t>• It can serve as a useful decision-support system for patent research, examination, and litigation analysis.</a:t>
            </a:r>
          </a:p>
        </p:txBody>
      </p:sp>
      <p:sp>
        <p:nvSpPr>
          <p:cNvPr id="4" name="TextBox 3"/>
          <p:cNvSpPr txBox="1"/>
          <p:nvPr/>
        </p:nvSpPr>
        <p:spPr>
          <a:xfrm>
            <a:off x="10881360" y="6446520"/>
            <a:ext cx="731520" cy="228600"/>
          </a:xfrm>
          <a:prstGeom prst="rect">
            <a:avLst/>
          </a:prstGeom>
          <a:noFill/>
        </p:spPr>
        <p:txBody>
          <a:bodyPr wrap="none">
            <a:spAutoFit/>
          </a:bodyPr>
          <a:lstStyle/>
          <a:p>
            <a:pPr algn="r"/>
            <a:r>
              <a:rPr sz="1000">
                <a:solidFill>
                  <a:srgbClr val="6E190F"/>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E5D7"/>
        </a:solidFill>
        <a:effectLst/>
      </p:bgPr>
    </p:bg>
    <p:spTree>
      <p:nvGrpSpPr>
        <p:cNvPr id="1" name=""/>
        <p:cNvGrpSpPr/>
        <p:nvPr/>
      </p:nvGrpSpPr>
      <p:grpSpPr/>
      <p:sp>
        <p:nvSpPr>
          <p:cNvPr id="2" name="Rounded Rectangle 1"/>
          <p:cNvSpPr/>
          <p:nvPr/>
        </p:nvSpPr>
        <p:spPr>
          <a:xfrm>
            <a:off x="2880360" y="320040"/>
            <a:ext cx="6446520" cy="658368"/>
          </a:xfrm>
          <a:prstGeom prst="roundRect">
            <a:avLst/>
          </a:prstGeom>
          <a:solidFill>
            <a:srgbClr val="D72B14"/>
          </a:solidFill>
          <a:ln>
            <a:solidFill>
              <a:srgbClr val="6E190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solidFill>
                  <a:srgbClr val="FFFFFF"/>
                </a:solidFill>
                <a:latin typeface="Georgia"/>
              </a:rPr>
              <a:t>Future Scope</a:t>
            </a:r>
          </a:p>
        </p:txBody>
      </p:sp>
      <p:sp>
        <p:nvSpPr>
          <p:cNvPr id="3" name="TextBox 2"/>
          <p:cNvSpPr txBox="1"/>
          <p:nvPr/>
        </p:nvSpPr>
        <p:spPr>
          <a:xfrm>
            <a:off x="822960" y="1188720"/>
            <a:ext cx="10607040" cy="5029200"/>
          </a:xfrm>
          <a:prstGeom prst="rect">
            <a:avLst/>
          </a:prstGeom>
          <a:noFill/>
        </p:spPr>
        <p:txBody>
          <a:bodyPr wrap="square" lIns="73152" rIns="45720">
            <a:spAutoFit/>
          </a:bodyPr>
          <a:lstStyle/>
          <a:p>
            <a:pPr>
              <a:spcAft>
                <a:spcPts val="1000"/>
              </a:spcAft>
              <a:defRPr sz="1800" b="0">
                <a:solidFill>
                  <a:srgbClr val="232323"/>
                </a:solidFill>
                <a:latin typeface="Georgia"/>
              </a:defRPr>
            </a:pPr>
            <a:r>
              <a:t>• Integrate larger real-world patent datasets and live patent databases.</a:t>
            </a:r>
          </a:p>
          <a:p>
            <a:pPr>
              <a:spcAft>
                <a:spcPts val="1000"/>
              </a:spcAft>
              <a:defRPr sz="1800" b="0">
                <a:solidFill>
                  <a:srgbClr val="232323"/>
                </a:solidFill>
                <a:latin typeface="Georgia"/>
              </a:defRPr>
            </a:pPr>
            <a:r>
              <a:t>• Add advanced NLP and machine-learning models for deeper claim similarity analysis.</a:t>
            </a:r>
          </a:p>
          <a:p>
            <a:pPr>
              <a:spcAft>
                <a:spcPts val="1000"/>
              </a:spcAft>
              <a:defRPr sz="1800" b="0">
                <a:solidFill>
                  <a:srgbClr val="232323"/>
                </a:solidFill>
                <a:latin typeface="Georgia"/>
              </a:defRPr>
            </a:pPr>
            <a:r>
              <a:t>• Improve citation influence analysis using advanced graph centrality algorithms.</a:t>
            </a:r>
          </a:p>
          <a:p>
            <a:pPr>
              <a:spcAft>
                <a:spcPts val="1000"/>
              </a:spcAft>
              <a:defRPr sz="1800" b="0">
                <a:solidFill>
                  <a:srgbClr val="232323"/>
                </a:solidFill>
                <a:latin typeface="Georgia"/>
              </a:defRPr>
            </a:pPr>
            <a:r>
              <a:t>• Develop faster optimization methods for large-scale prior-art set selection.</a:t>
            </a:r>
          </a:p>
          <a:p>
            <a:pPr>
              <a:spcAft>
                <a:spcPts val="1000"/>
              </a:spcAft>
              <a:defRPr sz="1800" b="0">
                <a:solidFill>
                  <a:srgbClr val="232323"/>
                </a:solidFill>
                <a:latin typeface="Georgia"/>
              </a:defRPr>
            </a:pPr>
            <a:r>
              <a:t>• Add interactive dashboards for citation networks, claim coverage, and litigation trends.</a:t>
            </a:r>
          </a:p>
          <a:p>
            <a:pPr>
              <a:spcAft>
                <a:spcPts val="1000"/>
              </a:spcAft>
              <a:defRPr sz="1800" b="0">
                <a:solidFill>
                  <a:srgbClr val="232323"/>
                </a:solidFill>
                <a:latin typeface="Georgia"/>
              </a:defRPr>
            </a:pPr>
            <a:r>
              <a:t>• Introduce explainable ranking so users can understand why a patent was considered relevant.</a:t>
            </a:r>
          </a:p>
          <a:p>
            <a:pPr>
              <a:spcAft>
                <a:spcPts val="1000"/>
              </a:spcAft>
              <a:defRPr sz="1800" b="0">
                <a:solidFill>
                  <a:srgbClr val="232323"/>
                </a:solidFill>
                <a:latin typeface="Georgia"/>
              </a:defRPr>
            </a:pPr>
            <a:r>
              <a:t>• Expand examiner assignment using skill matching, workload balancing, and scheduling constraints.</a:t>
            </a:r>
          </a:p>
        </p:txBody>
      </p:sp>
      <p:sp>
        <p:nvSpPr>
          <p:cNvPr id="4" name="TextBox 3"/>
          <p:cNvSpPr txBox="1"/>
          <p:nvPr/>
        </p:nvSpPr>
        <p:spPr>
          <a:xfrm>
            <a:off x="10881360" y="6446520"/>
            <a:ext cx="731520" cy="228600"/>
          </a:xfrm>
          <a:prstGeom prst="rect">
            <a:avLst/>
          </a:prstGeom>
          <a:noFill/>
        </p:spPr>
        <p:txBody>
          <a:bodyPr wrap="none">
            <a:spAutoFit/>
          </a:bodyPr>
          <a:lstStyle/>
          <a:p>
            <a:pPr algn="r"/>
            <a:r>
              <a:rPr sz="1000">
                <a:solidFill>
                  <a:srgbClr val="6E190F"/>
                </a:solidFill>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